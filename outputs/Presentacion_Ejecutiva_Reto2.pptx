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FAROS-2027, una herramienta para anticipar dónde crecerá la abstención en la elección intermedia de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Planteamos el problema tal como lo define la convocatoria y mostramos dónde respondemos cada requisito.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riesgo está en 2027. Sin hacer nada, la abstención sube casi 9 puntos respecto de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brecha juvenil es de unos 10 puntos en todas las entidades; los hombres se abstienen más en las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grupo es entidad × tipo de sección × sexo × edad. Coeficientes por mínimos cuadrados ponderados por lista nominal.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Guanajuato, Durango y Jalisco quedan en rojo sin elección de gubernatura en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eficacia del 15% es un supuesto; la conclusión de prioridad no depende de su valor exacto.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los recursos se asignan solo con el promedio estatal, estos distritos quedan fuera.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Carpetas del paquete: 3_Mapa_Escenarios (HTML y GeoJSON), 4_Base_Datos_Anonimizada (xlsx y csv) y 5_Codigo_Repositorio.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acciones se ejecutan con las atribuciones vigentes de la DECEyEC y las Juntas Ejecutivas.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377440" cy="587741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895" y="320040"/>
            <a:ext cx="3566160" cy="1320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Hackathon 2026 del INE · Eje temático 2: Predicción y escenarios de riesgo de abstención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4202B"/>
                </a:solidFill>
                <a:latin typeface="Calibri"/>
              </a:rPr>
              <a:t>FAROS-2027 · Semáforo de riesgo de abstención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7D8894"/>
                </a:solidFill>
                <a:latin typeface="Calibri"/>
              </a:rPr>
              <a:t>Focalización y Alerta de Riesgo de Abstención Subestatal mediante dos lentes de memoria electoral en las 32 entidades y 300 distritos federales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02B"/>
                </a:solidFill>
                <a:latin typeface="Calibri"/>
              </a:rPr>
              <a:t>Pregunta guía:</a:t>
            </a:r>
            <a:r>
              <a:rPr sz="1600" b="0" i="0">
                <a:solidFill>
                  <a:srgbClr val="14202B"/>
                </a:solidFill>
                <a:latin typeface="Calibri"/>
              </a:rPr>
              <a:t> ¿Qué zonas podrían presentar mayor abstención en el futuro si no se interviene?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006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202B"/>
                </a:solidFill>
                <a:latin typeface="Calibri"/>
              </a:rPr>
              <a:t>Commit Democrático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14202B"/>
                </a:solidFill>
                <a:latin typeface="Calibri"/>
              </a:rPr>
              <a:t>Francisco Jimenez Salgado y Víctor Manuel Ochoa-Zavala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D8894"/>
                </a:solidFill>
                <a:latin typeface="Calibri"/>
              </a:rPr>
              <a:t>Fuentes: Conteos Censales de Participación Ciudadana 2009–2024, INE-DECEyEC (ine.mx/transparencia/datos-abiertos/visualizacion-datos/conteos-censales-participacion/) · Censo de Población y Vivienda 2020, INEGI ·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1051560" cy="259962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272784"/>
            <a:ext cx="108680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63825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D8894"/>
                </a:solidFill>
                <a:latin typeface="Calibri"/>
              </a:rPr>
              <a:t>FAROS-2027 · Commit Democrático   |   Fuente: Conteos Censales de Participación Ciudadana 2009–2024, INE-DECEyEC (datos abiertos)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D8894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202B"/>
                </a:solidFill>
                <a:latin typeface="Calibri"/>
              </a:rPr>
              <a:t>El reto: anticipar dónde crecerá la abstención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Reto 2 de la convocatoria: Predicción y escenarios de riesgo de abstención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760720" cy="16002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916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395B"/>
                </a:solidFill>
                <a:latin typeface="Calibri"/>
              </a:rPr>
              <a:t>Pregunta guía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01168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4202B"/>
                </a:solidFill>
                <a:latin typeface="Calibri"/>
              </a:rPr>
              <a:t>¿Qué zonas podrían presentar mayor abstención en el futuro si no se interviene?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61488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D8894"/>
                </a:solidFill>
                <a:latin typeface="Calibri"/>
              </a:rPr>
              <a:t>Para el INE: planeación anticipada y priorización estratégica de recursos.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02B"/>
                </a:solidFill>
                <a:latin typeface="Calibri"/>
              </a:rPr>
              <a:t>Lo que pide la convocatoria y dónde lo respondemos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3395B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94760"/>
            <a:ext cx="5349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Modelo simple de riesgo con historia y variables sociodemográficas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4202B"/>
                </a:solidFill>
                <a:latin typeface="Calibri"/>
              </a:rPr>
              <a:t>diapositivas 4 y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61688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3395B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61688"/>
            <a:ext cx="5349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Dos escenarios: sin intervención y con intervención hipotética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4202B"/>
                </a:solidFill>
                <a:latin typeface="Calibri"/>
              </a:rPr>
              <a:t>diapositivas 6 y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28616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3395B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28616"/>
            <a:ext cx="5349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Esquema de riesgo territorial fácil de interpretar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4202B"/>
                </a:solidFill>
                <a:latin typeface="Calibri"/>
              </a:rPr>
              <a:t>diapositivas 6 y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95544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3395B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495544"/>
            <a:ext cx="5349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Recomendaciones preventivas</a:t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14202B"/>
                </a:solidFill>
                <a:latin typeface="Calibri"/>
              </a:rPr>
              <a:t>diapositiva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554480"/>
            <a:ext cx="4922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02B"/>
                </a:solidFill>
                <a:latin typeface="Calibri"/>
              </a:rPr>
              <a:t>Por qué importa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1965960"/>
            <a:ext cx="2323947" cy="13716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148840"/>
            <a:ext cx="18667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C8102E"/>
                </a:solidFill>
                <a:latin typeface="Calibri"/>
              </a:rPr>
              <a:t>56 · 53 · 48%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715768"/>
            <a:ext cx="18667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abstención en las intermedias 2009, 2015 y 2021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9107" y="1965960"/>
            <a:ext cx="2323947" cy="137160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7707" y="2148840"/>
            <a:ext cx="18667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3395B"/>
                </a:solidFill>
                <a:latin typeface="Calibri"/>
              </a:rPr>
              <a:t>38 · 38 · 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7707" y="2715768"/>
            <a:ext cx="18667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abstención en las presidenciales 2012, 2018 y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611880"/>
            <a:ext cx="492221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02B"/>
                </a:solidFill>
                <a:latin typeface="Calibri"/>
              </a:rPr>
              <a:t>2027 es elección intermedia.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Si se repite el patrón, cerca de la mitad del padrón no votaría.</a:t>
            </a:r>
          </a:p>
          <a:p>
            <a:pPr algn="l">
              <a:spcBef>
                <a:spcPts val="1000"/>
              </a:spcBef>
            </a:pPr>
            <a:r>
              <a:rPr sz="1500" b="1" i="0">
                <a:solidFill>
                  <a:srgbClr val="14202B"/>
                </a:solidFill>
                <a:latin typeface="Calibri"/>
              </a:rPr>
              <a:t>Los recursos de educación cívica son limitados.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Hay que saber antes de la jornada en qué entidades, distritos y grupos de población crecerá la abstención.</a:t>
            </a:r>
          </a:p>
          <a:p>
            <a:pPr algn="l">
              <a:spcBef>
                <a:spcPts val="1000"/>
              </a:spcBef>
            </a:pPr>
            <a:r>
              <a:rPr sz="1500" b="1" i="0">
                <a:solidFill>
                  <a:srgbClr val="14202B"/>
                </a:solidFill>
                <a:latin typeface="Calibri"/>
              </a:rPr>
              <a:t>El promedio estatal no basta: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puede esconder distritos en riesgo dentro de entidades que se ven bien.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1051560" cy="259962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272784"/>
            <a:ext cx="108680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63825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D8894"/>
                </a:solidFill>
                <a:latin typeface="Calibri"/>
              </a:rPr>
              <a:t>FAROS-2027 · Commit Democrático   |   Fuente: Conteos Censales de Participación Ciudadana 2009–2024, INE-DECEyEC (datos abiertos)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D8894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202B"/>
                </a:solidFill>
                <a:latin typeface="Calibri"/>
              </a:rPr>
              <a:t>Sin intervención, la mitad del padrón no votaría en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La elección intermedia es el momento más vulnerable del ciclo electoral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567863" cy="14173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2110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395B"/>
                </a:solidFill>
                <a:latin typeface="Calibri"/>
              </a:rPr>
              <a:t>40.3%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211066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abstención observada en 2024 (elección presidencial)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554480"/>
            <a:ext cx="2567863" cy="14173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737360"/>
            <a:ext cx="2110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libri"/>
              </a:rPr>
              <a:t>49.1%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23" y="2304288"/>
            <a:ext cx="211066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abstención proyectada para 2027 si no se interviene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554480"/>
            <a:ext cx="2567863" cy="14173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737360"/>
            <a:ext cx="2110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8B57"/>
                </a:solidFill>
                <a:latin typeface="Calibri"/>
              </a:rPr>
              <a:t>46.0%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304288"/>
            <a:ext cx="211066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abstención 2027 con intervención nacional en jóvenes y secciones rurales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5191" y="1554480"/>
            <a:ext cx="2567863" cy="14173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3791" y="1737360"/>
            <a:ext cx="2110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395B"/>
                </a:solidFill>
                <a:latin typeface="Calibri"/>
              </a:rPr>
              <a:t>3.25 millones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3791" y="2304288"/>
            <a:ext cx="211066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de personas que sí votarían gracias a esa intervención</a:t>
            </a:r>
          </a:p>
        </p:txBody>
      </p:sp>
      <p:pic>
        <p:nvPicPr>
          <p:cNvPr id="20" name="Picture 19" descr="fig1_serie_nacional_ciclo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00400"/>
            <a:ext cx="5308012" cy="2971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35240" y="3246120"/>
            <a:ext cx="40050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D8894"/>
                </a:solidFill>
                <a:latin typeface="Calibri"/>
              </a:rPr>
              <a:t>Abstención nacional observada (2009–2024) y proyectada (2027 y 2030). Las franjas son elecciones intermedias.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977639"/>
            <a:ext cx="400507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02B"/>
                </a:solidFill>
                <a:latin typeface="Calibri"/>
              </a:rPr>
              <a:t>8 entidades en rojo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concentran el riesgo alto de abstención.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14202B"/>
                </a:solidFill>
                <a:latin typeface="Calibri"/>
              </a:rPr>
              <a:t>Al pasar de una elección presidencial a una intermedia, cada entidad pierde en promedio </a:t>
            </a:r>
            <a:r>
              <a:rPr sz="1500" b="1" i="0">
                <a:solidFill>
                  <a:srgbClr val="14202B"/>
                </a:solidFill>
                <a:latin typeface="Calibri"/>
              </a:rPr>
              <a:t>11.7 puntos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de participación.</a:t>
            </a:r>
          </a:p>
          <a:p>
            <a:pPr algn="l">
              <a:spcBef>
                <a:spcPts val="1000"/>
              </a:spcBef>
            </a:pPr>
            <a:r>
              <a:rPr sz="1500" b="1" i="0">
                <a:solidFill>
                  <a:srgbClr val="14202B"/>
                </a:solidFill>
                <a:latin typeface="Calibri"/>
              </a:rPr>
              <a:t>22 distritos en rojo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están dentro de entidades amarillas o verdes: el promedio estatal los esconde.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1051560" cy="259962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272784"/>
            <a:ext cx="108680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63825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D8894"/>
                </a:solidFill>
                <a:latin typeface="Calibri"/>
              </a:rPr>
              <a:t>FAROS-2027 · Commit Democrático   |   Fuente: Conteos Censales de Participación Ciudadana 2009–2024, INE-DECEyEC (datos abiertos)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D8894"/>
                </a:solidFill>
                <a:latin typeface="Calibri"/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202B"/>
                </a:solidFill>
                <a:latin typeface="Calibri"/>
              </a:rPr>
              <a:t>Diagnóstico: juventudes, hombres y ciclo intermedio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Seis elecciones federales procesadas · 8,106 grupos agregados · sin datos personales</a:t>
            </a:r>
          </a:p>
        </p:txBody>
      </p:sp>
      <p:pic>
        <p:nvPicPr>
          <p:cNvPr id="8" name="Picture 7" descr="fig3_brechas_edad_rural_sexo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7726679" cy="2973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32120"/>
            <a:ext cx="77266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D8894"/>
                </a:solidFill>
                <a:latin typeface="Calibri"/>
              </a:rPr>
              <a:t>Abstención proyectada 2027 por entidad (cada punto) y mediana de las 32 entidades (línea). Participación = SV / (SV + NV), con SV = registros con marca de voto y NV = sin marca.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7D8894"/>
                </a:solidFill>
                <a:latin typeface="Calibri"/>
              </a:rPr>
              <a:t>Datos: ine.mx/transparencia/datos-abiertos/visualizacion-datos/conteos-censales-participacion/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600200"/>
            <a:ext cx="3093415" cy="13258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783080"/>
            <a:ext cx="2636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8102E"/>
                </a:solidFill>
                <a:latin typeface="Calibri"/>
              </a:rPr>
              <a:t>59.4% vs 45.4%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350008"/>
            <a:ext cx="2636215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abstención 2027 de 18 a 29 años frente a 30 años o más (promedio nacional)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081528"/>
            <a:ext cx="3093415" cy="13258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264408"/>
            <a:ext cx="2636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C8102E"/>
                </a:solidFill>
                <a:latin typeface="Calibri"/>
              </a:rPr>
              <a:t>64.6%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831336"/>
            <a:ext cx="2636215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abstención proyectada de los hombres de 18 a 29 años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4562856"/>
            <a:ext cx="3093415" cy="13258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4745736"/>
            <a:ext cx="2636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395B"/>
                </a:solidFill>
                <a:latin typeface="Calibri"/>
              </a:rPr>
              <a:t>28 de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312664"/>
            <a:ext cx="2636215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entidades donde las secciones urbanas se abstienen más que las rurales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1051560" cy="259962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272784"/>
            <a:ext cx="108680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63825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D8894"/>
                </a:solidFill>
                <a:latin typeface="Calibri"/>
              </a:rPr>
              <a:t>FAROS-2027 · Commit Democrático   |   Fuente: modelo y validación retrospectiva del equipo con datos de la CCPC 2009–2024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D8894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202B"/>
                </a:solidFill>
                <a:latin typeface="Calibri"/>
              </a:rPr>
              <a:t>Modelo de dos lentes, validado con 2021 y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Seis coeficientes con lectura directa; probado sin ver los resultados que predice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410712" cy="23317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3395B"/>
                </a:solidFill>
                <a:latin typeface="Calibri"/>
              </a:rPr>
              <a:t>Lente A: mismo 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48840"/>
            <a:ext cx="2862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Parte de la última elección del mismo tipo (2021 para 2027).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320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14202B"/>
                </a:solidFill>
                <a:latin typeface="Calibri"/>
              </a:rPr>
              <a:t>P(t−6) + α tipo + γ·ΔGob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γ = +9.5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514600"/>
            <a:ext cx="429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7D8894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3410712" cy="23317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719072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3395B"/>
                </a:solidFill>
                <a:latin typeface="Calibri"/>
              </a:rPr>
              <a:t>Lente B: reciente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48840"/>
            <a:ext cx="2862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Parte de la elección inmediata anterior (2024 para 2027).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4320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14202B"/>
                </a:solidFill>
                <a:latin typeface="Calibri"/>
              </a:rPr>
              <a:t>P(t−3) + α tipo + γ·ΔGob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00400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Calibri"/>
              </a:rPr>
              <a:t>γ = +3.7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2514600"/>
            <a:ext cx="429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7D8894"/>
                </a:solidFill>
                <a:latin typeface="Calibri"/>
              </a:rPr>
              <a:t>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410712" cy="2331720"/>
          </a:xfrm>
          <a:prstGeom prst="roundRect">
            <a:avLst>
              <a:gd name="adj" fmla="val 6000"/>
            </a:avLst>
          </a:prstGeom>
          <a:solidFill>
            <a:srgbClr val="E3EA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719072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3395B"/>
                </a:solidFill>
                <a:latin typeface="Calibri"/>
              </a:rPr>
              <a:t>Proyección 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148840"/>
            <a:ext cx="28620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Promedio de los dos lentes, por grupo de votantes y entidad.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743200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14202B"/>
                </a:solidFill>
                <a:latin typeface="Calibri"/>
              </a:rPr>
              <a:t>½ A + ½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2862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3395B"/>
                </a:solidFill>
                <a:latin typeface="Calibri"/>
              </a:rPr>
              <a:t>por entidad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02B"/>
                </a:solidFill>
                <a:latin typeface="Calibri"/>
              </a:rPr>
              <a:t>α</a:t>
            </a:r>
            <a:r>
              <a:rPr sz="1300" b="0" i="0">
                <a:solidFill>
                  <a:srgbClr val="14202B"/>
                </a:solidFill>
                <a:latin typeface="Calibri"/>
              </a:rPr>
              <a:t> = efecto del tipo de elección (intermedia o presidencial).   </a:t>
            </a:r>
            <a:r>
              <a:rPr sz="1300" b="1" i="0">
                <a:solidFill>
                  <a:srgbClr val="14202B"/>
                </a:solidFill>
                <a:latin typeface="Calibri"/>
              </a:rPr>
              <a:t>γ</a:t>
            </a:r>
            <a:r>
              <a:rPr sz="1300" b="0" i="0">
                <a:solidFill>
                  <a:srgbClr val="14202B"/>
                </a:solidFill>
                <a:latin typeface="Calibri"/>
              </a:rPr>
              <a:t> = efecto de elegir gobernador el mismo día; en 2027 habrá 17 gubernaturas.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02B"/>
                </a:solidFill>
                <a:latin typeface="Calibri"/>
              </a:rPr>
              <a:t>Validación: se predijo 2021 con datos hasta 2018, y 2024 con datos hasta 2021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37760"/>
            <a:ext cx="3515258" cy="123444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30580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395B"/>
                </a:solidFill>
                <a:latin typeface="Calibri"/>
              </a:rPr>
              <a:t>±4.62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87568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error medio por entidad (el modelo ingenuo se equivoca 5.81)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8218" y="4937760"/>
            <a:ext cx="3515258" cy="123444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6818" y="5120640"/>
            <a:ext cx="30580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395B"/>
                </a:solidFill>
                <a:latin typeface="Calibri"/>
              </a:rPr>
              <a:t>64%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6818" y="5687568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de las entidades quedaron en el color correcto del semáforo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7796" y="4937760"/>
            <a:ext cx="3515258" cy="123444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6396" y="5120640"/>
            <a:ext cx="30580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3395B"/>
                </a:solidFill>
                <a:latin typeface="Calibri"/>
              </a:rPr>
              <a:t>0.72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6396" y="5687568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correlación de rangos (Spearman): ordena bien el riesgo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1051560" cy="259962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272784"/>
            <a:ext cx="108680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63825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D8894"/>
                </a:solidFill>
                <a:latin typeface="Calibri"/>
              </a:rPr>
              <a:t>FAROS-2027 · Commit Democrático   |   Fuente: Conteos Censales de Participación Ciudadana 2009–2024, INE-DECEyEC (datos abiertos)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D8894"/>
                </a:solidFill>
                <a:latin typeface="Calibri"/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202B"/>
                </a:solidFill>
                <a:latin typeface="Calibri"/>
              </a:rPr>
              <a:t>Semáforo estatal 2027: 8 entidades en riesgo alto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Rojo con abstención de 51.47% o más, verde con 45.87% o menos. Mismos cortes en ambos mapas</a:t>
            </a:r>
          </a:p>
        </p:txBody>
      </p:sp>
      <p:pic>
        <p:nvPicPr>
          <p:cNvPr id="8" name="Picture 7" descr="mapas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8138160" cy="31164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06840" y="16459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Riesgo alto sin intervención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103120"/>
            <a:ext cx="2651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202B"/>
                </a:solidFill>
                <a:latin typeface="Calibri"/>
              </a:rPr>
              <a:t>Baja California 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60.6%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Guanajuato 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56.9%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Durango 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56.9%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Sonora 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56.8%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Jalisco 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54.4%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Chihuahua 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54.1%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Baja California Sur 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52.3%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Michoacán 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51.9%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983480"/>
            <a:ext cx="2773375" cy="1051560"/>
          </a:xfrm>
          <a:prstGeom prst="roundRect">
            <a:avLst>
              <a:gd name="adj" fmla="val 6000"/>
            </a:avLst>
          </a:prstGeom>
          <a:solidFill>
            <a:srgbClr val="E7F4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5138928"/>
            <a:ext cx="240761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02B"/>
                </a:solidFill>
                <a:latin typeface="Calibri"/>
              </a:rPr>
              <a:t>13 entidades</a:t>
            </a:r>
            <a:r>
              <a:rPr sz="1400" b="0" i="0">
                <a:solidFill>
                  <a:srgbClr val="14202B"/>
                </a:solidFill>
                <a:latin typeface="Calibri"/>
              </a:rPr>
              <a:t> bajan de color con la intervención nacional (2A)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1051560" cy="259962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272784"/>
            <a:ext cx="108680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63825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D8894"/>
                </a:solidFill>
                <a:latin typeface="Calibri"/>
              </a:rPr>
              <a:t>FAROS-2027 · Commit Democrático   |   Fuente: simulación del equipo sobre la proyección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D8894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202B"/>
                </a:solidFill>
                <a:latin typeface="Calibri"/>
              </a:rPr>
              <a:t>Priorizar 8 entidades logra el mismo cambio de semáforo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Escenario 2A (intervenir las 32 entidades) frente a 2B (intervenir solo las 8 en rojo)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E8B57"/>
                </a:solidFill>
                <a:latin typeface="Calibri"/>
              </a:rPr>
              <a:t>4 en rojo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3200400" cy="685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Escenario 2A: de 8 a 4 entidades en rojo y 3,247,560 personas más votarían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395B"/>
                </a:solidFill>
                <a:latin typeface="Calibri"/>
              </a:rPr>
              <a:t>4 en rojo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41648"/>
            <a:ext cx="3200400" cy="685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Escenario 2B: el mismo resultado de semáforo con 952,822 personas, interviniendo 8 de 32 entidades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202B"/>
                </a:solidFill>
                <a:latin typeface="Calibri"/>
              </a:rPr>
              <a:t>2B alcanza 29% de la población que alcanza 2A y logra la misma reducción de entidades en rojo. Es la opción si el presupuesto es limitado.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202B"/>
                </a:solidFill>
                <a:latin typeface="Calibri"/>
              </a:rPr>
              <a:t>Sensibilidad: aun con 5% de eficacia bajan las entidades en rojo</a:t>
            </a:r>
          </a:p>
        </p:txBody>
      </p:sp>
      <p:pic>
        <p:nvPicPr>
          <p:cNvPr id="16" name="Picture 15" descr="fig_sensibil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57400"/>
            <a:ext cx="6416626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1051560" cy="259962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272784"/>
            <a:ext cx="108680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63825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D8894"/>
                </a:solidFill>
                <a:latin typeface="Calibri"/>
              </a:rPr>
              <a:t>FAROS-2027 · Commit Democrático   |   Fuente: Conteos Censales de Participación Ciudadana 2009–2024, INE-DECEyEC (datos abiertos)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D8894"/>
                </a:solidFill>
                <a:latin typeface="Calibri"/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202B"/>
                </a:solidFill>
                <a:latin typeface="Calibri"/>
              </a:rPr>
              <a:t>El hallazgo clave: 22 distritos rojos ocultos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De 75 distritos federales en rojo, 22 están en entidades amarillas o verdes</a:t>
            </a:r>
          </a:p>
        </p:txBody>
      </p:sp>
      <p:pic>
        <p:nvPicPr>
          <p:cNvPr id="8" name="Picture 7" descr="fig5_distritos_rojos_ocultos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6309360" cy="39408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600200"/>
            <a:ext cx="4465015" cy="13258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40078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C8102E"/>
                </a:solidFill>
                <a:latin typeface="Calibri"/>
              </a:rPr>
              <a:t>3.83 millones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350008"/>
            <a:ext cx="4007815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202B"/>
                </a:solidFill>
                <a:latin typeface="Calibri"/>
              </a:rPr>
              <a:t>de abstencionistas esperados en esos 22 distritos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200400"/>
            <a:ext cx="446501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202B"/>
                </a:solidFill>
                <a:latin typeface="Calibri"/>
              </a:rPr>
              <a:t>Nuevo León: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6 distritos</a:t>
            </a:r>
          </a:p>
          <a:p>
            <a:pPr algn="l">
              <a:spcBef>
                <a:spcPts val="800"/>
              </a:spcBef>
            </a:pPr>
            <a:r>
              <a:rPr sz="1500" b="1" i="0">
                <a:solidFill>
                  <a:srgbClr val="14202B"/>
                </a:solidFill>
                <a:latin typeface="Calibri"/>
              </a:rPr>
              <a:t>Tamaulipas: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3 distritos</a:t>
            </a:r>
          </a:p>
          <a:p>
            <a:pPr algn="l">
              <a:spcBef>
                <a:spcPts val="800"/>
              </a:spcBef>
            </a:pPr>
            <a:r>
              <a:rPr sz="1500" b="1" i="0">
                <a:solidFill>
                  <a:srgbClr val="14202B"/>
                </a:solidFill>
                <a:latin typeface="Calibri"/>
              </a:rPr>
              <a:t>México, Sinaloa y Tabasco: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2 distritos cada uno</a:t>
            </a:r>
          </a:p>
          <a:p>
            <a:pPr algn="l">
              <a:spcBef>
                <a:spcPts val="800"/>
              </a:spcBef>
            </a:pPr>
            <a:r>
              <a:rPr sz="1500" b="1" i="0">
                <a:solidFill>
                  <a:srgbClr val="14202B"/>
                </a:solidFill>
                <a:latin typeface="Calibri"/>
              </a:rPr>
              <a:t>Chiapas, distrito 9: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en rojo dentro de una entidad verde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4202B"/>
                </a:solidFill>
                <a:latin typeface="Calibri"/>
              </a:rPr>
              <a:t>En total, </a:t>
            </a:r>
            <a:r>
              <a:rPr sz="1500" b="1" i="0">
                <a:solidFill>
                  <a:srgbClr val="14202B"/>
                </a:solidFill>
                <a:latin typeface="Calibri"/>
              </a:rPr>
              <a:t>12 entidades</a:t>
            </a:r>
            <a:r>
              <a:rPr sz="1500" b="0" i="0">
                <a:solidFill>
                  <a:srgbClr val="14202B"/>
                </a:solidFill>
                <a:latin typeface="Calibri"/>
              </a:rPr>
              <a:t> tienen al menos un distrito rojo oculto.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1051560" cy="259962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272784"/>
            <a:ext cx="108680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63825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D8894"/>
                </a:solidFill>
                <a:latin typeface="Calibri"/>
              </a:rPr>
              <a:t>FAROS-2027 · Commit Democrático   |   Fuente: tablero de escenarios del equipo (carpeta 3_Mapa_Escenarios)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D8894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202B"/>
                </a:solidFill>
                <a:latin typeface="Calibri"/>
              </a:rPr>
              <a:t>Una herramienta que el INE puede usar mañana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Tablero interactivo autocontenido, capa GeoJSON y código reproducible en Python</a:t>
            </a:r>
          </a:p>
        </p:txBody>
      </p:sp>
      <p:pic>
        <p:nvPicPr>
          <p:cNvPr id="8" name="Picture 7" descr="captura_tabl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7315200" cy="32279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1645920"/>
            <a:ext cx="345917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202B"/>
                </a:solidFill>
                <a:latin typeface="Calibri"/>
              </a:rPr>
              <a:t>Compara el mapa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sin y con intervención</a:t>
            </a:r>
            <a:r>
              <a:rPr sz="1400" b="0" i="0">
                <a:solidFill>
                  <a:srgbClr val="14202B"/>
                </a:solidFill>
                <a:latin typeface="Calibri"/>
              </a:rPr>
              <a:t>, en los escenarios 2A y 2B.</a:t>
            </a:r>
          </a:p>
          <a:p>
            <a:pPr algn="l">
              <a:spcBef>
                <a:spcPts val="9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Ordena las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32 entidades</a:t>
            </a:r>
            <a:r>
              <a:rPr sz="1400" b="0" i="0">
                <a:solidFill>
                  <a:srgbClr val="14202B"/>
                </a:solidFill>
                <a:latin typeface="Calibri"/>
              </a:rPr>
              <a:t> y los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300 distritos</a:t>
            </a:r>
            <a:r>
              <a:rPr sz="1400" b="0" i="0">
                <a:solidFill>
                  <a:srgbClr val="14202B"/>
                </a:solidFill>
                <a:latin typeface="Calibri"/>
              </a:rPr>
              <a:t> por cualquier columna.</a:t>
            </a:r>
          </a:p>
          <a:p>
            <a:pPr algn="l">
              <a:spcBef>
                <a:spcPts val="9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Un clic en un estado muestra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sus distritos</a:t>
            </a:r>
            <a:r>
              <a:rPr sz="1400" b="0" i="0">
                <a:solidFill>
                  <a:srgbClr val="14202B"/>
                </a:solidFill>
                <a:latin typeface="Calibri"/>
              </a:rPr>
              <a:t>.</a:t>
            </a:r>
          </a:p>
          <a:p>
            <a:pPr algn="l">
              <a:spcBef>
                <a:spcPts val="9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Funciona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sin internet</a:t>
            </a:r>
            <a:r>
              <a:rPr sz="1400" b="0" i="0">
                <a:solidFill>
                  <a:srgbClr val="14202B"/>
                </a:solidFill>
                <a:latin typeface="Calibri"/>
              </a:rPr>
              <a:t>: es un solo archivo HTML.</a:t>
            </a:r>
          </a:p>
          <a:p>
            <a:pPr algn="l">
              <a:spcBef>
                <a:spcPts val="900"/>
              </a:spcBef>
            </a:pPr>
            <a:r>
              <a:rPr sz="1400" b="0" i="0">
                <a:solidFill>
                  <a:srgbClr val="14202B"/>
                </a:solidFill>
                <a:latin typeface="Calibri"/>
              </a:rPr>
              <a:t>La capa </a:t>
            </a:r>
            <a:r>
              <a:rPr sz="1400" b="1" i="0">
                <a:solidFill>
                  <a:srgbClr val="14202B"/>
                </a:solidFill>
                <a:latin typeface="Calibri"/>
              </a:rPr>
              <a:t>GeoJSON</a:t>
            </a:r>
            <a:r>
              <a:rPr sz="1400" b="0" i="0">
                <a:solidFill>
                  <a:srgbClr val="14202B"/>
                </a:solidFill>
                <a:latin typeface="Calibri"/>
              </a:rPr>
              <a:t> se abre en QGIS, Power BI o Tableau.</a:t>
            </a:r>
          </a:p>
          <a:p>
            <a:pPr algn="l">
              <a:spcBef>
                <a:spcPts val="900"/>
              </a:spcBef>
            </a:pPr>
            <a:r>
              <a:rPr sz="1400" b="1" i="0">
                <a:solidFill>
                  <a:srgbClr val="14202B"/>
                </a:solidFill>
                <a:latin typeface="Calibri"/>
              </a:rPr>
              <a:t>run_all.py</a:t>
            </a:r>
            <a:r>
              <a:rPr sz="1400" b="0" i="0">
                <a:solidFill>
                  <a:srgbClr val="14202B"/>
                </a:solidFill>
                <a:latin typeface="Calibri"/>
              </a:rPr>
              <a:t> regenera todo cuando se publique la CCPC 2027.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2602153" cy="9601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30952"/>
            <a:ext cx="22363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395B"/>
                </a:solidFill>
                <a:latin typeface="Calibri"/>
              </a:rPr>
              <a:t>Tablero interactivo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22363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4202B"/>
                </a:solidFill>
                <a:latin typeface="Calibri"/>
              </a:rPr>
              <a:t>3_Mapa_Escenarios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14202B"/>
                </a:solidFill>
                <a:latin typeface="Calibri"/>
              </a:rPr>
              <a:t>archivo 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9393" y="5212080"/>
            <a:ext cx="2602153" cy="9601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2273" y="5330952"/>
            <a:ext cx="22363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395B"/>
                </a:solidFill>
                <a:latin typeface="Calibri"/>
              </a:rPr>
              <a:t>Capa geoespacial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273" y="5650992"/>
            <a:ext cx="22363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4202B"/>
                </a:solidFill>
                <a:latin typeface="Calibri"/>
              </a:rPr>
              <a:t>3_Mapa_Escenarios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14202B"/>
                </a:solidFill>
                <a:latin typeface="Calibri"/>
              </a:rPr>
              <a:t>archivo .geojson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5212080"/>
            <a:ext cx="2602153" cy="9601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27" y="5330952"/>
            <a:ext cx="22363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395B"/>
                </a:solidFill>
                <a:latin typeface="Calibri"/>
              </a:rPr>
              <a:t>Base de datos, 107 variables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5650992"/>
            <a:ext cx="22363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4202B"/>
                </a:solidFill>
                <a:latin typeface="Calibri"/>
              </a:rPr>
              <a:t>4_Base_Datos_Anonimizada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14202B"/>
                </a:solidFill>
                <a:latin typeface="Calibri"/>
              </a:rPr>
              <a:t>(.xlsx y .csv)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0901" y="5212080"/>
            <a:ext cx="2602153" cy="9601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3781" y="5330952"/>
            <a:ext cx="223639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3395B"/>
                </a:solidFill>
                <a:latin typeface="Calibri"/>
              </a:rPr>
              <a:t>Código en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5650992"/>
            <a:ext cx="22363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4202B"/>
                </a:solidFill>
                <a:latin typeface="Calibri"/>
              </a:rPr>
              <a:t>5_Codigo_Repositorio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14202B"/>
                </a:solidFill>
                <a:latin typeface="Calibri"/>
              </a:rPr>
              <a:t>con run_all.py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e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1051560" cy="259962"/>
          </a:xfrm>
          <a:prstGeom prst="rect">
            <a:avLst/>
          </a:prstGeom>
        </p:spPr>
      </p:pic>
      <p:pic>
        <p:nvPicPr>
          <p:cNvPr id="3" name="Picture 2" descr="logo_hackea_la_particip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6272784"/>
            <a:ext cx="1086808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17520" y="6382512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D8894"/>
                </a:solidFill>
                <a:latin typeface="Calibri"/>
              </a:rPr>
              <a:t>FAROS-2027 · Commit Democrático   |   Fuente: propuesta del equipo para la DECEyEC y las Juntas Ejecutivas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D8894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4202B"/>
                </a:solidFill>
                <a:latin typeface="Calibri"/>
              </a:rPr>
              <a:t>Hoja de ruta para la DECEyEC y las Juntas Ejecutivas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3395B"/>
                </a:solidFill>
                <a:latin typeface="Calibri"/>
              </a:rPr>
              <a:t>Acciones operativas dentro de la ENCÍVICA, sin reformas legales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410047" cy="1572768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5564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395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55648"/>
            <a:ext cx="43127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02B"/>
                </a:solidFill>
                <a:latin typeface="Calibri"/>
              </a:rPr>
              <a:t>Asignar recursos por distrito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176272"/>
            <a:ext cx="43127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202B"/>
                </a:solidFill>
                <a:latin typeface="Calibri"/>
              </a:rPr>
              <a:t>Prioridad a los 53 distritos rojos de entidades rojas y a los 22 rojos ocultos.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743200"/>
            <a:ext cx="43127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7D8894"/>
                </a:solidFill>
                <a:latin typeface="Calibri"/>
              </a:rPr>
              <a:t>Mide: % del presupuesto ejercido en distritos rojos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554480"/>
            <a:ext cx="5410047" cy="1572768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75564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395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1687" y="1755648"/>
            <a:ext cx="43127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02B"/>
                </a:solidFill>
                <a:latin typeface="Calibri"/>
              </a:rPr>
              <a:t>Juventudes y hombres jóvenes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176272"/>
            <a:ext cx="43127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202B"/>
                </a:solidFill>
                <a:latin typeface="Calibri"/>
              </a:rPr>
              <a:t>Campañas ENCÍVICA en escuelas, centros de trabajo y redes, en secciones urbanas y mixtas.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1687" y="2743200"/>
            <a:ext cx="43127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7D8894"/>
                </a:solidFill>
                <a:latin typeface="Calibri"/>
              </a:rPr>
              <a:t>Mide: participación de 18 a 29 años en 2027 frente a 2021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1839"/>
            <a:ext cx="5410047" cy="1572768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49300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395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493008"/>
            <a:ext cx="43127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02B"/>
                </a:solidFill>
                <a:latin typeface="Calibri"/>
              </a:rPr>
              <a:t>Territorio e interculturalidad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3913631"/>
            <a:ext cx="43127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202B"/>
                </a:solidFill>
                <a:latin typeface="Calibri"/>
              </a:rPr>
              <a:t>Brigadas móviles y materiales en lenguas indígenas en secciones rurales de alta abstención.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4480559"/>
            <a:ext cx="43127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7D8894"/>
                </a:solidFill>
                <a:latin typeface="Calibri"/>
              </a:rPr>
              <a:t>Mide: secciones rurales atendidas y materiales traducidos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3291839"/>
            <a:ext cx="5410047" cy="1572768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349300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395B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1687" y="3493008"/>
            <a:ext cx="43127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202B"/>
                </a:solidFill>
                <a:latin typeface="Calibri"/>
              </a:rPr>
              <a:t>Contra la fatiga de intermedia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1687" y="3913631"/>
            <a:ext cx="43127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4202B"/>
                </a:solidFill>
                <a:latin typeface="Calibri"/>
              </a:rPr>
              <a:t>Campaña en las 15 entidades sin gubernatura en 2027, empezando por Guanajuato, Jalisco y Durango.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1687" y="4480559"/>
            <a:ext cx="43127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7D8894"/>
                </a:solidFill>
                <a:latin typeface="Calibri"/>
              </a:rPr>
              <a:t>Mide: caída de participación de 2024 a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66360"/>
            <a:ext cx="2602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395B"/>
                </a:solidFill>
                <a:latin typeface="Calibri"/>
              </a:rPr>
              <a:t>Nov 2026 – ene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04688"/>
            <a:ext cx="260215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202B"/>
                </a:solidFill>
                <a:latin typeface="Calibri"/>
              </a:rPr>
              <a:t>Adoptar el semáforo y validar la lista de distritos con cada Junta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9393" y="5166360"/>
            <a:ext cx="2602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395B"/>
                </a:solidFill>
                <a:latin typeface="Calibri"/>
              </a:rPr>
              <a:t>Feb – abr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9393" y="5504688"/>
            <a:ext cx="260215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202B"/>
                </a:solidFill>
                <a:latin typeface="Calibri"/>
              </a:rPr>
              <a:t>Desplegar campañas y brigadas según la regla de asignación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147" y="5166360"/>
            <a:ext cx="2602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395B"/>
                </a:solidFill>
                <a:latin typeface="Calibri"/>
              </a:rPr>
              <a:t>May – jun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0147" y="5504688"/>
            <a:ext cx="260215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202B"/>
                </a:solidFill>
                <a:latin typeface="Calibri"/>
              </a:rPr>
              <a:t>Intensificar en distritos rojos y en juventudes antes de la jornada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0901" y="5166360"/>
            <a:ext cx="2602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395B"/>
                </a:solidFill>
                <a:latin typeface="Calibri"/>
              </a:rPr>
              <a:t>Segundo semestre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0901" y="5504688"/>
            <a:ext cx="260215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4202B"/>
                </a:solidFill>
                <a:latin typeface="Calibri"/>
              </a:rPr>
              <a:t>Re-estimar con la CCPC 2027 y evaluar el impacto por distrito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